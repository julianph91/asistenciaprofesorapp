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406640" y="594360"/>
            <a:ext cx="4251960" cy="5577840"/>
          </a:xfrm>
          <a:prstGeom prst="roundRect">
            <a:avLst>
              <a:gd name="adj" fmla="val 430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68680"/>
            <a:ext cx="4206240" cy="34747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686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VISIÓN ESTRATÉGICA Y ARQUITECTURA DE SOFTWARE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EduAsistencia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Docente de Control de Asistencia, Calificaciones y Reportes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Presentación integral del proyecto: Objetivo, Misión, Público Objetivo y Arquitectura Tecnológica (Frontend, Backend, Base de Datos y Flujo Operativo) de nuestra solución híbrida Web SPA + Escritorio Java.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4251960"/>
            <a:ext cx="2971800" cy="841248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441655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4165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439826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 y Misión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08760" y="467258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Propósito y Público Objetivo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86200" y="4251960"/>
            <a:ext cx="2971800" cy="841248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0" y="441655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44165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439826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Dual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467258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SPA + Java Swing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5257800"/>
            <a:ext cx="2971800" cy="841248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42239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4223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540410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Seguro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08760" y="567842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 ES6+ &amp; Patrón DAO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886200" y="5257800"/>
            <a:ext cx="2971800" cy="841248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23360" y="542239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4023360" y="54223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63440" y="540410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BD y Flujo Vivo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63440" y="567842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8 + Firebase Cloud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635240" y="8229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DE 3 CAPAS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80960" y="1325880"/>
            <a:ext cx="3703320" cy="1143000"/>
          </a:xfrm>
          <a:prstGeom prst="roundRect">
            <a:avLst>
              <a:gd name="adj" fmla="val 9600"/>
            </a:avLst>
          </a:prstGeom>
          <a:solidFill>
            <a:srgbClr val="0F172A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80960" y="1325880"/>
            <a:ext cx="128016" cy="1143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7936992" y="143560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 DE PRESENTACIÓN (FRONTEND)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936992" y="172821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HTML5 / CSS3 Responsive  |  Java Swing + FlatLaf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936992" y="202082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Interfaz intuitiva para el docente en PC y móvil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052560" y="247802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⬇  ⬆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80960" y="2834640"/>
            <a:ext cx="3703320" cy="1143000"/>
          </a:xfrm>
          <a:prstGeom prst="roundRect">
            <a:avLst>
              <a:gd name="adj" fmla="val 9600"/>
            </a:avLst>
          </a:prstGeom>
          <a:solidFill>
            <a:srgbClr val="0F172A"/>
          </a:solidFill>
          <a:ln w="22225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80960" y="2834640"/>
            <a:ext cx="128016" cy="1143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7936992" y="294436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 LÓGICA DE NEGOCIO (BACKEND)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936992" y="323697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Controlador JS ES6+  |  Java 21 MVC + DAO + JDBC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936992" y="352958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Autenticación SHA-256, validaciones, lotes y CSV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052560" y="398678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⬇  ⬆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680960" y="4343400"/>
            <a:ext cx="3703320" cy="1143000"/>
          </a:xfrm>
          <a:prstGeom prst="roundRect">
            <a:avLst>
              <a:gd name="adj" fmla="val 9600"/>
            </a:avLst>
          </a:prstGeom>
          <a:solidFill>
            <a:srgbClr val="0F172A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80960" y="4343400"/>
            <a:ext cx="128016" cy="1143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4" name="Text 42"/>
          <p:cNvSpPr/>
          <p:nvPr/>
        </p:nvSpPr>
        <p:spPr>
          <a:xfrm>
            <a:off x="7936992" y="445312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 DE DATOS (PERSISTENCIA HÍBRIDA)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936992" y="474573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8.x Relacional  |  Firebase RTDB + LocalStorage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936992" y="503834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Integridad referencial y sincronización en vivo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56032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PROPÓSITO ESTRATÉGICO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063240" y="20116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 de la App, Misión Institucional y Público Objetivo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48640" y="621792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buscamos lograr con EduAsistencia, cuál es su razón de ser y a quiénes beneficia directamente?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1052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EduAsistencia • Portal Docente de Control de Asistencia y Gestión Académica (Web SPA + Java Desktop)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0" y="6510528"/>
            <a:ext cx="2041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Diapositiva 2 de 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097280"/>
            <a:ext cx="5394960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097280"/>
            <a:ext cx="5394960" cy="502920"/>
          </a:xfrm>
          <a:prstGeom prst="roundRect">
            <a:avLst>
              <a:gd name="adj" fmla="val 25455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1430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OBJETIVO QUE QUEREMOS LOGRAR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31520" y="1682496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Digitalizar, simplificar y centralizar el control diario de asistencia, matrícula y calificaciones escolares, eliminando las planillas de papel y los procesos manuales propensos a errores.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304288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2331720"/>
            <a:ext cx="4809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Ahorro del 70% del tiempo en aula: </a:t>
            </a:r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Pasar lista en segundos con acciones rápidas ('Marcar Todos Presentes') y métricas en vivo.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31520" y="2825496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2852928"/>
            <a:ext cx="4809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 Cero pérdida de datos y disponibilidad 24/7: </a:t>
            </a:r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Sincronización instantánea en la nube (Firebase) y respaldo seguro en MySQL 8 / LocalStorage.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731520" y="3346704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3374136"/>
            <a:ext cx="4809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Reducción del ausentismo escolar: </a:t>
            </a:r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Detectar inasistencias reiteradas a tiempo mediante reportes automáticos exportables a Excel/CSV.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6248095" y="1097280"/>
            <a:ext cx="5394960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DDD6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48095" y="1097280"/>
            <a:ext cx="5394960" cy="502920"/>
          </a:xfrm>
          <a:prstGeom prst="roundRect">
            <a:avLst>
              <a:gd name="adj" fmla="val 25455"/>
            </a:avLst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430975" y="11430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 MISIÓN DE EDUASISTENCIA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30975" y="1719072"/>
            <a:ext cx="5029200" cy="960120"/>
          </a:xfrm>
          <a:prstGeom prst="roundRect">
            <a:avLst>
              <a:gd name="adj" fmla="val 9524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8135" y="1764792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i="1" dirty="0">
                <a:solidFill>
                  <a:srgbClr val="6D2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“Empoderar a los docentes e instituciones educativas mediante una herramienta tecnológica intuitiva, rápida y accesible desde cualquier dispositivo, que automatice la gestión administrativa diaria para que el profesor dedique su tiempo a lo más valioso: enseñar y acompañar a sus estudiantes.”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430975" y="2788920"/>
            <a:ext cx="5029200" cy="475488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825496"/>
            <a:ext cx="4809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Accesibilidad Universal: </a:t>
            </a:r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 con o sin internet, en navegador web (celular/PC) o como app nativa de escritorio en Java.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6430975" y="3337560"/>
            <a:ext cx="5029200" cy="475488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3374136"/>
            <a:ext cx="4809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Transparencia Académica: </a:t>
            </a:r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Trazabilidad exacta de fechas, observaciones, excusas y cálculo imparcial de promedios por periodo.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548640" y="4133088"/>
            <a:ext cx="11094415" cy="224028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4279392"/>
            <a:ext cx="32004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27939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 PÚBLICO OBJETIVO (USUARIOS META)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4069080" y="4279392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Perfiles de personas e instituciones para quienes fue diseñada específicamente la aplicación: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" y="4700016"/>
            <a:ext cx="3383280" cy="1517904"/>
          </a:xfrm>
          <a:prstGeom prst="roundRect">
            <a:avLst>
              <a:gd name="adj" fmla="val 7229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9536" y="4791456"/>
            <a:ext cx="1920240" cy="219456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859536" y="479145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USUARIO PRINCIPAL DIARIO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59536" y="5047488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Docentes y Profesores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59536" y="5340096"/>
            <a:ext cx="31272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Profesores de educación básica, media, técnica o superior que administran varios cursos y necesitan tomar asistencia y calificar de forma ágil desde su laptop o teléfono móvil en el salón de clases.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407408" y="4700016"/>
            <a:ext cx="3383280" cy="1517904"/>
          </a:xfrm>
          <a:prstGeom prst="roundRect">
            <a:avLst>
              <a:gd name="adj" fmla="val 7229"/>
            </a:avLst>
          </a:prstGeom>
          <a:solidFill>
            <a:srgbClr val="1E293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35424" y="4791456"/>
            <a:ext cx="1920240" cy="219456"/>
          </a:xfrm>
          <a:prstGeom prst="roundRect">
            <a:avLst>
              <a:gd name="adj" fmla="val 33333"/>
            </a:avLst>
          </a:prstGeom>
          <a:solidFill>
            <a:srgbClr val="D97706"/>
          </a:solidFill>
          <a:ln/>
        </p:spPr>
      </p:sp>
      <p:sp>
        <p:nvSpPr>
          <p:cNvPr id="40" name="Text 38"/>
          <p:cNvSpPr/>
          <p:nvPr/>
        </p:nvSpPr>
        <p:spPr>
          <a:xfrm>
            <a:off x="4535424" y="479145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Y CONTROL ACADÉMICO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35424" y="5047488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Coordinadores y Directivos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535424" y="5340096"/>
            <a:ext cx="31272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Coordinadores académicos y rectores que requieren monitorear índices de asistencia por jornada, auditar excusas médicas/llegadas tarde y descargar consolidados en Excel para consejos académicos.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083296" y="4700016"/>
            <a:ext cx="3383280" cy="1517904"/>
          </a:xfrm>
          <a:prstGeom prst="roundRect">
            <a:avLst>
              <a:gd name="adj" fmla="val 7229"/>
            </a:avLst>
          </a:prstGeom>
          <a:solidFill>
            <a:srgbClr val="1E293B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11312" y="4791456"/>
            <a:ext cx="1920240" cy="219456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/>
        </p:spPr>
      </p:sp>
      <p:sp>
        <p:nvSpPr>
          <p:cNvPr id="45" name="Text 43"/>
          <p:cNvSpPr/>
          <p:nvPr/>
        </p:nvSpPr>
        <p:spPr>
          <a:xfrm>
            <a:off x="8211312" y="479145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INSTITUCIONES EDUCATIVAS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211312" y="5047488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Colegios, Academias e Institutos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211312" y="5340096"/>
            <a:ext cx="31272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Instituciones públicas o privadas que buscan modernizar su gestión sin pagar costosas licencias, adaptándose tanto a sedes conectadas a internet (Firebase) como a aulas sin red (MySQL / Local).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56032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VISTA INTEGRAL 360°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063240" y="20116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Completa: Frontend, Backend, Base de Datos y Flujo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48640" y="621792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Resumen técnico en una sola diapositiva de los componentes tecnológicos y el funcionamiento del sistema EduAsistencia.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1052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EduAsistencia • Portal Docente de Control de Asistencia y Gestión Académica (Web SPA + Java Desktop)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0" y="6510528"/>
            <a:ext cx="2041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Diapositiva 3 de 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078992"/>
            <a:ext cx="3483864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078992"/>
            <a:ext cx="3483864" cy="566928"/>
          </a:xfrm>
          <a:prstGeom prst="roundRect">
            <a:avLst>
              <a:gd name="adj" fmla="val 19355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11556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FRONTEND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5800" y="12984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 de Presentación (UI/UX)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1737360"/>
            <a:ext cx="3264408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1773936"/>
            <a:ext cx="31181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Aplicación Web SPA: </a:t>
            </a:r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HTML5 semántico + CSS3 moderno (Flexbox/Grid), diseño responsivo para PC y celular sin recargar página.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8368" y="2359152"/>
            <a:ext cx="3264408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395728"/>
            <a:ext cx="31181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Aplicación Escritorio: </a:t>
            </a:r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Swing estilizado con FlatLaf 3.5.4 (bordes redondeados, antialiasing y tema corporativo).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8368" y="2980944"/>
            <a:ext cx="3264408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017520"/>
            <a:ext cx="31181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Módulos Interactivos: </a:t>
            </a:r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Institucional, Dashboard con KPIs en vivo, Toma de Asistencia, Estudiantes/Cursos, Notas y Reportes.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8368" y="3602736"/>
            <a:ext cx="3264408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639312"/>
            <a:ext cx="31181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Experiencia Docente: </a:t>
            </a:r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Contadores dinámicos al instante, botón 'Marcar Todos Presentes' y filtros rápidos por curso/fecha.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52544" y="1078992"/>
            <a:ext cx="3483864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9050">
            <a:solidFill>
              <a:srgbClr val="DDD6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52544" y="1078992"/>
            <a:ext cx="3483864" cy="566928"/>
          </a:xfrm>
          <a:prstGeom prst="roundRect">
            <a:avLst>
              <a:gd name="adj" fmla="val 19355"/>
            </a:avLst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4489704" y="111556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BACKEND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89704" y="12984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Lógica de Negocio y Control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462272" y="1737360"/>
            <a:ext cx="3264408" cy="548640"/>
          </a:xfrm>
          <a:prstGeom prst="roundRect">
            <a:avLst>
              <a:gd name="adj" fmla="val 13333"/>
            </a:avLst>
          </a:prstGeom>
          <a:solidFill>
            <a:srgbClr val="F5F3FF"/>
          </a:solidFill>
          <a:ln/>
        </p:spPr>
      </p:sp>
      <p:sp>
        <p:nvSpPr>
          <p:cNvPr id="27" name="Text 25"/>
          <p:cNvSpPr/>
          <p:nvPr/>
        </p:nvSpPr>
        <p:spPr>
          <a:xfrm>
            <a:off x="4535424" y="1773936"/>
            <a:ext cx="31181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Motor Web (js/app.js): </a:t>
            </a:r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Controlador en JavaScript ES6+ que gestiona sesión activa, estado en memoria y eventos en tiempo real.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62272" y="2359152"/>
            <a:ext cx="3264408" cy="548640"/>
          </a:xfrm>
          <a:prstGeom prst="roundRect">
            <a:avLst>
              <a:gd name="adj" fmla="val 13333"/>
            </a:avLst>
          </a:prstGeom>
          <a:solidFill>
            <a:srgbClr val="F5F3FF"/>
          </a:solidFill>
          <a:ln/>
        </p:spPr>
      </p:sp>
      <p:sp>
        <p:nvSpPr>
          <p:cNvPr id="29" name="Text 27"/>
          <p:cNvSpPr/>
          <p:nvPr/>
        </p:nvSpPr>
        <p:spPr>
          <a:xfrm>
            <a:off x="4535424" y="2395728"/>
            <a:ext cx="31181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Motor Java 21 (MVC / DAO): </a:t>
            </a:r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Separación en paquetes (model, dao, ui, util) con conexión JDBC mediante mysql-connector-j 9.1.0.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62272" y="2980944"/>
            <a:ext cx="3264408" cy="548640"/>
          </a:xfrm>
          <a:prstGeom prst="roundRect">
            <a:avLst>
              <a:gd name="adj" fmla="val 13333"/>
            </a:avLst>
          </a:prstGeom>
          <a:solidFill>
            <a:srgbClr val="F5F3FF"/>
          </a:solidFill>
          <a:ln/>
        </p:spPr>
      </p:sp>
      <p:sp>
        <p:nvSpPr>
          <p:cNvPr id="31" name="Text 29"/>
          <p:cNvSpPr/>
          <p:nvPr/>
        </p:nvSpPr>
        <p:spPr>
          <a:xfrm>
            <a:off x="4535424" y="3017520"/>
            <a:ext cx="31181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y Transacciones: </a:t>
            </a:r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Contraseñas hasheadas con SHA-256 (PasswordUtil), PreparedStatements anti-SQLi y guardado por lotes (Batch).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462272" y="3602736"/>
            <a:ext cx="3264408" cy="548640"/>
          </a:xfrm>
          <a:prstGeom prst="roundRect">
            <a:avLst>
              <a:gd name="adj" fmla="val 13333"/>
            </a:avLst>
          </a:prstGeom>
          <a:solidFill>
            <a:srgbClr val="F5F3FF"/>
          </a:solidFill>
          <a:ln/>
        </p:spPr>
      </p:sp>
      <p:sp>
        <p:nvSpPr>
          <p:cNvPr id="33" name="Text 31"/>
          <p:cNvSpPr/>
          <p:nvPr/>
        </p:nvSpPr>
        <p:spPr>
          <a:xfrm>
            <a:off x="4535424" y="3639312"/>
            <a:ext cx="31181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Cálculos y Exportación: </a:t>
            </a:r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Cálculo automático de % de asistencia, promedios de notas (1.0 a 5.0) y generación de CSV UTF-8 para Excel.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156448" y="1078992"/>
            <a:ext cx="3483864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56448" y="1078992"/>
            <a:ext cx="3483864" cy="566928"/>
          </a:xfrm>
          <a:prstGeom prst="roundRect">
            <a:avLst>
              <a:gd name="adj" fmla="val 19355"/>
            </a:avLst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8293608" y="111556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BASE DE DATOS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293608" y="12984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Persistencia Híbrida y Nube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266176" y="1737360"/>
            <a:ext cx="3264408" cy="54864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/>
        </p:spPr>
      </p:sp>
      <p:sp>
        <p:nvSpPr>
          <p:cNvPr id="39" name="Text 37"/>
          <p:cNvSpPr/>
          <p:nvPr/>
        </p:nvSpPr>
        <p:spPr>
          <a:xfrm>
            <a:off x="8339328" y="1773936"/>
            <a:ext cx="31181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8.x (asistencia_db): </a:t>
            </a:r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de datos relacional InnoDB (utf8mb4) con integridad referencial (FOREIGN KEY ... ON DELETE CASCADE).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266176" y="2359152"/>
            <a:ext cx="3264408" cy="54864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/>
        </p:spPr>
      </p:sp>
      <p:sp>
        <p:nvSpPr>
          <p:cNvPr id="41" name="Text 39"/>
          <p:cNvSpPr/>
          <p:nvPr/>
        </p:nvSpPr>
        <p:spPr>
          <a:xfrm>
            <a:off x="8339328" y="2395728"/>
            <a:ext cx="31181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Tablas Nucleares: </a:t>
            </a:r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profesores, cursos, estudiantes (con borrado lógico 'activo') y asistencias (UNIQUE por estudiante/día).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266176" y="2980944"/>
            <a:ext cx="3264408" cy="54864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/>
        </p:spPr>
      </p:sp>
      <p:sp>
        <p:nvSpPr>
          <p:cNvPr id="43" name="Text 41"/>
          <p:cNvSpPr/>
          <p:nvPr/>
        </p:nvSpPr>
        <p:spPr>
          <a:xfrm>
            <a:off x="8339328" y="3017520"/>
            <a:ext cx="31181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Realtime DB: </a:t>
            </a:r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Sincronización NoSQL en la nube en tiempo real entre múltiples computadoras y dispositivos móviles.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266176" y="3602736"/>
            <a:ext cx="3264408" cy="54864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/>
        </p:spPr>
      </p:sp>
      <p:sp>
        <p:nvSpPr>
          <p:cNvPr id="45" name="Text 43"/>
          <p:cNvSpPr/>
          <p:nvPr/>
        </p:nvSpPr>
        <p:spPr>
          <a:xfrm>
            <a:off x="8339328" y="3639312"/>
            <a:ext cx="31181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Respaldo LocalStorage: </a:t>
            </a:r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Almacenamiento local automático en el navegador que permite operar offline sin perder información.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48640" y="4462272"/>
            <a:ext cx="11094415" cy="192024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0" y="4590288"/>
            <a:ext cx="283464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8" name="Text 46"/>
          <p:cNvSpPr/>
          <p:nvPr/>
        </p:nvSpPr>
        <p:spPr>
          <a:xfrm>
            <a:off x="731520" y="459028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¿CÓMO FUNCIONA EL SISTEMA?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703320" y="459028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 operativo de extremo a extremo desde el inicio de sesión hasta la generación de reportes: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31520" y="4983480"/>
            <a:ext cx="2542032" cy="1261872"/>
          </a:xfrm>
          <a:prstGeom prst="roundRect">
            <a:avLst>
              <a:gd name="adj" fmla="val 7246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1248" y="5074920"/>
            <a:ext cx="713232" cy="237744"/>
          </a:xfrm>
          <a:prstGeom prst="roundRect">
            <a:avLst>
              <a:gd name="adj" fmla="val 30769"/>
            </a:avLst>
          </a:prstGeom>
          <a:solidFill>
            <a:srgbClr val="2563EB"/>
          </a:solidFill>
          <a:ln/>
        </p:spPr>
      </p:sp>
      <p:sp>
        <p:nvSpPr>
          <p:cNvPr id="52" name="Text 50"/>
          <p:cNvSpPr/>
          <p:nvPr/>
        </p:nvSpPr>
        <p:spPr>
          <a:xfrm>
            <a:off x="841248" y="5074920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1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609344" y="505663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Acceso y Autenticación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41248" y="5376672"/>
            <a:ext cx="232257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docente inicia sesión (ej. profesor1). El Backend verifica credenciales (SHA-256 en MySQL o sesión Web) y carga sus cursos.</a:t>
            </a:r>
            <a:endParaRPr lang="en-US" sz="920" dirty="0"/>
          </a:p>
        </p:txBody>
      </p:sp>
      <p:sp>
        <p:nvSpPr>
          <p:cNvPr id="55" name="Text 53"/>
          <p:cNvSpPr/>
          <p:nvPr/>
        </p:nvSpPr>
        <p:spPr>
          <a:xfrm>
            <a:off x="3273552" y="544068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➜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456432" y="4983480"/>
            <a:ext cx="2542032" cy="1261872"/>
          </a:xfrm>
          <a:prstGeom prst="roundRect">
            <a:avLst>
              <a:gd name="adj" fmla="val 7246"/>
            </a:avLst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566160" y="5074920"/>
            <a:ext cx="713232" cy="237744"/>
          </a:xfrm>
          <a:prstGeom prst="roundRect">
            <a:avLst>
              <a:gd name="adj" fmla="val 30769"/>
            </a:avLst>
          </a:prstGeom>
          <a:solidFill>
            <a:srgbClr val="7C3AED"/>
          </a:solidFill>
          <a:ln/>
        </p:spPr>
      </p:sp>
      <p:sp>
        <p:nvSpPr>
          <p:cNvPr id="58" name="Text 56"/>
          <p:cNvSpPr/>
          <p:nvPr/>
        </p:nvSpPr>
        <p:spPr>
          <a:xfrm>
            <a:off x="3566160" y="5074920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2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334256" y="505663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Cursos y Matrícula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3566160" y="5376672"/>
            <a:ext cx="232257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 o crea cursos por jornada (Mañana/Tarde) y registra estudiantes validando documento único con baja lógica.</a:t>
            </a:r>
            <a:endParaRPr lang="en-US" sz="920" dirty="0"/>
          </a:p>
        </p:txBody>
      </p:sp>
      <p:sp>
        <p:nvSpPr>
          <p:cNvPr id="61" name="Text 59"/>
          <p:cNvSpPr/>
          <p:nvPr/>
        </p:nvSpPr>
        <p:spPr>
          <a:xfrm>
            <a:off x="5998464" y="544068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➜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181344" y="4983480"/>
            <a:ext cx="2542032" cy="1261872"/>
          </a:xfrm>
          <a:prstGeom prst="roundRect">
            <a:avLst>
              <a:gd name="adj" fmla="val 7246"/>
            </a:avLst>
          </a:prstGeom>
          <a:solidFill>
            <a:srgbClr val="1E293B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91072" y="5074920"/>
            <a:ext cx="713232" cy="237744"/>
          </a:xfrm>
          <a:prstGeom prst="roundRect">
            <a:avLst>
              <a:gd name="adj" fmla="val 30769"/>
            </a:avLst>
          </a:prstGeom>
          <a:solidFill>
            <a:srgbClr val="059669"/>
          </a:solidFill>
          <a:ln/>
        </p:spPr>
      </p:sp>
      <p:sp>
        <p:nvSpPr>
          <p:cNvPr id="64" name="Text 62"/>
          <p:cNvSpPr/>
          <p:nvPr/>
        </p:nvSpPr>
        <p:spPr>
          <a:xfrm>
            <a:off x="6291072" y="5074920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3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059168" y="505663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Asistencia y Notas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291072" y="5376672"/>
            <a:ext cx="232257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Marca Presente, Ausente, Tarde o Excusa y registra calificaciones. Se guarda por lote (Upsert sin duplicar fecha).</a:t>
            </a:r>
            <a:endParaRPr lang="en-US" sz="920" dirty="0"/>
          </a:p>
        </p:txBody>
      </p:sp>
      <p:sp>
        <p:nvSpPr>
          <p:cNvPr id="67" name="Text 65"/>
          <p:cNvSpPr/>
          <p:nvPr/>
        </p:nvSpPr>
        <p:spPr>
          <a:xfrm>
            <a:off x="8723376" y="544068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➜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8906256" y="4983480"/>
            <a:ext cx="2542032" cy="1261872"/>
          </a:xfrm>
          <a:prstGeom prst="roundRect">
            <a:avLst>
              <a:gd name="adj" fmla="val 7246"/>
            </a:avLst>
          </a:prstGeom>
          <a:solidFill>
            <a:srgbClr val="1E293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015984" y="5074920"/>
            <a:ext cx="713232" cy="237744"/>
          </a:xfrm>
          <a:prstGeom prst="roundRect">
            <a:avLst>
              <a:gd name="adj" fmla="val 30769"/>
            </a:avLst>
          </a:prstGeom>
          <a:solidFill>
            <a:srgbClr val="D97706"/>
          </a:solidFill>
          <a:ln/>
        </p:spPr>
      </p:sp>
      <p:sp>
        <p:nvSpPr>
          <p:cNvPr id="70" name="Text 68"/>
          <p:cNvSpPr/>
          <p:nvPr/>
        </p:nvSpPr>
        <p:spPr>
          <a:xfrm>
            <a:off x="9015984" y="5074920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4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9784080" y="505663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Nube y Reporte Excel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9015984" y="5376672"/>
            <a:ext cx="232257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cambios se sincronizan al instante vía Firebase/MySQL. El docente filtra por fechas y descarga el reporte en CSV/Excel.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56032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 1 • FRONTEND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063240" y="20116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Frontend: Interfaz de Usuario Dual (Web SPA y Escritorio Java)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48640" y="621792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Diseñado bajo principios de usabilidad, velocidad de respuesta y estética institucional moderna en ambas plataformas.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1052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EduAsistencia • Portal Docente de Control de Asistencia y Gestión Académica (Web SPA + Java Desktop)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0" y="6510528"/>
            <a:ext cx="2041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Diapositiva 4 de 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115568"/>
            <a:ext cx="5394960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115568"/>
            <a:ext cx="5394960" cy="548640"/>
          </a:xfrm>
          <a:prstGeom prst="roundRect">
            <a:avLst>
              <a:gd name="adj" fmla="val 23333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170432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 Frontend Web (Single Page Application)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1810512"/>
            <a:ext cx="5029200" cy="676656"/>
          </a:xfrm>
          <a:prstGeom prst="roundRect">
            <a:avLst>
              <a:gd name="adj" fmla="val 10811"/>
            </a:avLst>
          </a:prstGeom>
          <a:solidFill>
            <a:srgbClr val="EFF6F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1865376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Estructura HTML5 Semántica (index.html)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208483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de página única (SPA) dividida en vistas dinámicas: Login Institucional y Dashboard con barra lateral colapsable.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31520" y="2596896"/>
            <a:ext cx="5029200" cy="676656"/>
          </a:xfrm>
          <a:prstGeom prst="roundRect">
            <a:avLst>
              <a:gd name="adj" fmla="val 10811"/>
            </a:avLst>
          </a:prstGeom>
          <a:solidFill>
            <a:srgbClr val="EF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65176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 Corporativo CSS3 (css/styles.css)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287121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de CSS Variables, Flexbox y CSS Grid. Tipografía 'Inter' (Google Fonts), iconografía Font Awesome 6.5 y logotipo vectorial SVG.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731520" y="3383280"/>
            <a:ext cx="5029200" cy="676656"/>
          </a:xfrm>
          <a:prstGeom prst="roundRect">
            <a:avLst>
              <a:gd name="adj" fmla="val 10811"/>
            </a:avLst>
          </a:prstGeom>
          <a:solidFill>
            <a:srgbClr val="EFF6FF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438144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Interactividad en Tiempo Real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" y="36576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Tarjetas KPI de asistencia que se recalculan al instante al cambiar estados, badges de desempeño (Superior, Alto, Básico, Bajo) y botón de autocompletar demo.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731520" y="4169664"/>
            <a:ext cx="5029200" cy="676656"/>
          </a:xfrm>
          <a:prstGeom prst="roundRect">
            <a:avLst>
              <a:gd name="adj" fmla="val 10811"/>
            </a:avLst>
          </a:prstGeom>
          <a:solidFill>
            <a:srgbClr val="EFF6FF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224528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Adaptabilidad Multi-Dispositivo (Responsive)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68680" y="444398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Menú hamburguesa para celulares y tablets, permitiendo al docente pasar lista desde su teléfono o PC en el aula.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6248095" y="1115568"/>
            <a:ext cx="5394960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8095" y="1115568"/>
            <a:ext cx="5394960" cy="548640"/>
          </a:xfrm>
          <a:prstGeom prst="roundRect">
            <a:avLst>
              <a:gd name="adj" fmla="val 23333"/>
            </a:avLst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6430975" y="1170432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 Frontend Escritorio (Java Swing + FlatLaf)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30975" y="1810512"/>
            <a:ext cx="5029200" cy="676656"/>
          </a:xfrm>
          <a:prstGeom prst="roundRect">
            <a:avLst>
              <a:gd name="adj" fmla="val 10811"/>
            </a:avLst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6568135" y="1865376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 &amp; Feel Moderno con FlatLaf 3.5.4 (Main.java &amp; Tema.java)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68135" y="208483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Reemplaza la apariencia clásica de Java por un estilo limpio tipo Dashboard Web con bordes redondeados (arc = 10) y antialiasing de texto.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6430975" y="2596896"/>
            <a:ext cx="5029200" cy="676656"/>
          </a:xfrm>
          <a:prstGeom prst="roundRect">
            <a:avLst>
              <a:gd name="adj" fmla="val 10811"/>
            </a:avLst>
          </a:prstGeom>
          <a:solidFill>
            <a:srgbClr val="F1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6568135" y="265176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LoginFrame &amp; DashboardFrame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68135" y="287121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Ventana de autenticación segura y contenedor principal con navegación lateral entre módulos manteniendo el contexto del profesor autenticado.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6430975" y="3383280"/>
            <a:ext cx="5029200" cy="676656"/>
          </a:xfrm>
          <a:prstGeom prst="roundRect">
            <a:avLst>
              <a:gd name="adj" fmla="val 10811"/>
            </a:avLst>
          </a:pr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6568135" y="3438144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PanelTomarAsistencia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568135" y="36576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Tabla interactiva con selectores desplegables de estado (PRESENTE, AUSENTE, TARDE, EXCUSA), campo de observación y acción masiva en 1 clic.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6430975" y="4169664"/>
            <a:ext cx="5029200" cy="676656"/>
          </a:xfrm>
          <a:prstGeom prst="roundRect">
            <a:avLst>
              <a:gd name="adj" fmla="val 10811"/>
            </a:avLst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6568135" y="4224528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PanelEstudiantes &amp; PanelReportes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568135" y="444398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Formularios validados para creación de cursos/matrícula de alumnos y visor de reportes históricos con selector de rango de fechas.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548640" y="5257800"/>
            <a:ext cx="11094415" cy="109728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5330952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MÓDULOS DISPONIBLES EN LA INTERFAZ DEL DOCENTE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13232" y="5632704"/>
            <a:ext cx="1719072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" y="5669280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Inicio (Dashboard)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768096" y="5907024"/>
            <a:ext cx="1609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KPIs y resumen diario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2523744" y="5632704"/>
            <a:ext cx="1719072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78608" y="5669280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Tomar Asistencia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2578608" y="5907024"/>
            <a:ext cx="1609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 individual y masivo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4334256" y="5632704"/>
            <a:ext cx="1719072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9120" y="5669280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Estudiantes y Cursos</a:t>
            </a:r>
            <a:endParaRPr lang="en-US" sz="920" dirty="0"/>
          </a:p>
        </p:txBody>
      </p:sp>
      <p:sp>
        <p:nvSpPr>
          <p:cNvPr id="50" name="Text 48"/>
          <p:cNvSpPr/>
          <p:nvPr/>
        </p:nvSpPr>
        <p:spPr>
          <a:xfrm>
            <a:off x="4389120" y="5907024"/>
            <a:ext cx="1609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Matrícula y jornadas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6144768" y="5632704"/>
            <a:ext cx="1719072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99632" y="5669280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Reportes y CSV</a:t>
            </a:r>
            <a:endParaRPr lang="en-US" sz="920" dirty="0"/>
          </a:p>
        </p:txBody>
      </p:sp>
      <p:sp>
        <p:nvSpPr>
          <p:cNvPr id="53" name="Text 51"/>
          <p:cNvSpPr/>
          <p:nvPr/>
        </p:nvSpPr>
        <p:spPr>
          <a:xfrm>
            <a:off x="6199632" y="5907024"/>
            <a:ext cx="1609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Filtros y exportación Excel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7955280" y="5632704"/>
            <a:ext cx="1719072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10144" y="5669280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Gestión de Notas</a:t>
            </a:r>
            <a:endParaRPr lang="en-US" sz="920" dirty="0"/>
          </a:p>
        </p:txBody>
      </p:sp>
      <p:sp>
        <p:nvSpPr>
          <p:cNvPr id="56" name="Text 54"/>
          <p:cNvSpPr/>
          <p:nvPr/>
        </p:nvSpPr>
        <p:spPr>
          <a:xfrm>
            <a:off x="8010144" y="5907024"/>
            <a:ext cx="1609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Periodos y promedios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9765792" y="5632704"/>
            <a:ext cx="1719072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820656" y="5669280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Perfil y Nube</a:t>
            </a:r>
            <a:endParaRPr lang="en-US" sz="920" dirty="0"/>
          </a:p>
        </p:txBody>
      </p:sp>
      <p:sp>
        <p:nvSpPr>
          <p:cNvPr id="59" name="Text 57"/>
          <p:cNvSpPr/>
          <p:nvPr/>
        </p:nvSpPr>
        <p:spPr>
          <a:xfrm>
            <a:off x="9820656" y="5907024"/>
            <a:ext cx="1609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 docentes y Firebase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56032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 2 • BACKEND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063240" y="20116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Backend: Arquitectura MVC/DAO en Java 21 y Controlador JS ES6+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48640" y="621792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Procesamiento seguro de reglas de negocio, encriptación de credenciales, transacciones SQL por lotes y sincronización reactiva.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1052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EduAsistencia • Portal Docente de Control de Asistencia y Gestión Académica (Web SPA + Java Desktop)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0" y="6510528"/>
            <a:ext cx="2041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Diapositiva 5 de 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115568"/>
            <a:ext cx="5669280" cy="521208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9050">
            <a:solidFill>
              <a:srgbClr val="DDD6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115568"/>
            <a:ext cx="5669280" cy="530352"/>
          </a:xfrm>
          <a:prstGeom prst="roundRect">
            <a:avLst>
              <a:gd name="adj" fmla="val 24138"/>
            </a:avLst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161288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☕  Backend Escritorio: Java 21 + Patrón DAO + JDBC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1773936"/>
            <a:ext cx="5303520" cy="987552"/>
          </a:xfrm>
          <a:prstGeom prst="roundRect">
            <a:avLst>
              <a:gd name="adj" fmla="val 7407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182880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6D2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Paquete model (Entidades de Dominio / POJOs)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868680" y="20482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Profesor.java  |  Curso.java  |  Estudiante.java  |  Asistencia.java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" y="224942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Representan fielmente las tablas del negocio. Incluye el tipo enumerado seguro Estado { PRESENTE, AUSENTE, TARDE, EXCUSA }.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2871216"/>
            <a:ext cx="5303520" cy="987552"/>
          </a:xfrm>
          <a:prstGeom prst="roundRect">
            <a:avLst>
              <a:gd name="adj" fmla="val 7407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92608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6D2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Paquete dao (Data Access Objects - SQL Parametrizado)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868680" y="314553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ProfesorDAO  |  CursoDAO  |  EstudianteDAO  |  AsistenciaDAO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334670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Aísla todas las consultas SQL usando PreparedStatement (previniendo Inyección SQL). Implementa registrarLote() con transacciones (setAutoCommit(false), addBatch, executeBatch, commit/rollback).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3968496"/>
            <a:ext cx="5303520" cy="987552"/>
          </a:xfrm>
          <a:prstGeom prst="roundRect">
            <a:avLst>
              <a:gd name="adj" fmla="val 7407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0233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6D2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Paquete util (Seguridad Criptográfica y Conexión JDBC)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868680" y="424281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ConexionBD.java  |  PasswordUtil.java  |  config.properties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8680" y="444398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ConexionBD registra el driver mysql-connector-j 9.1.0 y lee credenciales externas desde config.properties. PasswordUtil cifra contraseñas con algoritmo SHA-256 (MessageDigest).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" y="5065776"/>
            <a:ext cx="5303520" cy="987552"/>
          </a:xfrm>
          <a:prstGeom prst="roundRect">
            <a:avLst>
              <a:gd name="adj" fmla="val 7407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12064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6D2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Construcción y Empaquetado (Maven &amp; Scripts)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868680" y="534009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pom.xml (maven-assembly-plugin)  |  ejecutar.bat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68680" y="554126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 un JAR ejecutable autocontenido (jar-with-dependencies) y permite compilación/ejecución directa en 1 clic con ejecutar.bat.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30975" y="1115568"/>
            <a:ext cx="5212080" cy="521208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30975" y="1115568"/>
            <a:ext cx="5212080" cy="530352"/>
          </a:xfrm>
          <a:prstGeom prst="roundRect">
            <a:avLst>
              <a:gd name="adj" fmla="val 24138"/>
            </a:avLst>
          </a:prstGeom>
          <a:solidFill>
            <a:srgbClr val="0F172A"/>
          </a:solidFill>
          <a:ln/>
        </p:spPr>
      </p:sp>
      <p:sp>
        <p:nvSpPr>
          <p:cNvPr id="31" name="Text 29"/>
          <p:cNvSpPr/>
          <p:nvPr/>
        </p:nvSpPr>
        <p:spPr>
          <a:xfrm>
            <a:off x="6613855" y="1161288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Backend Web: Controlador Reactivo (js/app.js)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613855" y="1773936"/>
            <a:ext cx="4846320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51015" y="184708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Gestión de Estado Global (estadoLocal)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51015" y="21031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Mantiene sincronizados en memoria los arreglos de profesores, cursos, estudiantes, asistencias y notas para respuesta en 0 ms.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613855" y="2871216"/>
            <a:ext cx="4846320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51015" y="294436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Adaptador Híbrido Nube / Local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751015" y="32004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Funciones adaptativas (guardarCursos, guardarEstudiantes, guardarAsistencias, guardarNotas) que escriben simultáneamente en LocalStorage y en Firebase Realtime Database.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6613855" y="3968496"/>
            <a:ext cx="4846320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51015" y="404164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Motor de Reglas Académicas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751015" y="42976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Validación de documento único al matricular estudiantes.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Upsert de asistencia por (id_estudiante + fecha).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Cálculo de promedio de 4 notas por periodo y asignación de nivel.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6613855" y="5065776"/>
            <a:ext cx="4846320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51015" y="513892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Generador de Reportes Excel (CSV UTF-8)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751015" y="53949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Construye dinámicamente archivos CSV con marca de orden de bytes (BOM \uFEFF) para que Microsoft Excel reconozca tildes y eñes correctamente.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56032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 3 • BASE DE DATOS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063240" y="20116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de Datos: Modelo Relacional MySQL 8 y Sincronización Cloud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48640" y="621792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 normalizado con integridad referencial en MySQL (sql/schema.sql) y réplica JSON en tiempo real con Firebase.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1052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EduAsistencia • Portal Docente de Control de Asistencia y Gestión Académica (Web SPA + Java Desktop)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0" y="6510528"/>
            <a:ext cx="2041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Diapositiva 6 de 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07899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ESQUEMA RELACIONAL MYSQL 8.x (asistencia_db • Motor InnoDB • utf8mb4_spanish_ci)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417320"/>
            <a:ext cx="33375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417320"/>
            <a:ext cx="3337560" cy="402336"/>
          </a:xfrm>
          <a:prstGeom prst="roundRect">
            <a:avLst>
              <a:gd name="adj" fmla="val 22727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146304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TABLA: profesores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6656" y="187452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id_profesor (INT AUTO_INCREMENT PK)</a:t>
            </a:r>
            <a:endParaRPr lang="en-US" sz="9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nombre_completo (VARCHAR 100 NOT NULL)</a:t>
            </a:r>
            <a:endParaRPr lang="en-US" sz="9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usuario (VARCHAR 50 UNIQUE NOT NULL)</a:t>
            </a:r>
            <a:endParaRPr lang="en-US" sz="9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contrasena (VARCHAR 255 - Hash SHA-256)</a:t>
            </a:r>
            <a:endParaRPr lang="en-US" sz="9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correo (VARCHAR 100)</a:t>
            </a:r>
            <a:endParaRPr lang="en-US" sz="9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fecha_creacion (TIMESTAMP)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4251960" y="1417320"/>
            <a:ext cx="33375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1417320"/>
            <a:ext cx="3337560" cy="402336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361688" y="146304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TABLA: cursos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79976" y="187452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id_curso (INT AUTO_INCREMENT PK)</a:t>
            </a:r>
            <a:endParaRPr lang="en-US" sz="9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nombre_curso (VARCHAR 100 - ej. '10-A')</a:t>
            </a:r>
            <a:endParaRPr lang="en-US" sz="9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jornada (VARCHAR 30 - Mañana/Tarde/Noche)</a:t>
            </a:r>
            <a:endParaRPr lang="en-US" sz="9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id_profesor (INT FK -&gt; profesores)</a:t>
            </a:r>
            <a:endParaRPr lang="en-US" sz="9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fecha_creacion (TIMESTAMP)</a:t>
            </a:r>
            <a:endParaRPr lang="en-US" sz="9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ON DELETE CASCADE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3375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77640"/>
            <a:ext cx="3337560" cy="402336"/>
          </a:xfrm>
          <a:prstGeom prst="roundRect">
            <a:avLst>
              <a:gd name="adj" fmla="val 22727"/>
            </a:avLst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402336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TABLA: estudiantes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" y="443484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id_estudiante (INT AUTO_INCREMENT PK)</a:t>
            </a:r>
            <a:endParaRPr lang="en-US" sz="9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nombre_completo (VARCHAR 100 NOT NULL)</a:t>
            </a:r>
            <a:endParaRPr lang="en-US" sz="9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documento (VARCHAR 30 UNIQUE NOT NULL)</a:t>
            </a:r>
            <a:endParaRPr lang="en-US" sz="9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id_curso (INT FK -&gt; cursos)</a:t>
            </a:r>
            <a:endParaRPr lang="en-US" sz="9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activo (TINYINT 1 - Baja lógica sin borrar historial)</a:t>
            </a:r>
            <a:endParaRPr lang="en-US" sz="9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ON DELETE CASCADE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4251960" y="3977640"/>
            <a:ext cx="33375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51960" y="3977640"/>
            <a:ext cx="3337560" cy="402336"/>
          </a:xfrm>
          <a:prstGeom prst="roundRect">
            <a:avLst>
              <a:gd name="adj" fmla="val 22727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4361688" y="402336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TABLA: asistencias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79976" y="443484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id_asistencia (INT AUTO_INCREMENT PK)</a:t>
            </a:r>
            <a:endParaRPr lang="en-US" sz="9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id_estudiante (FK) | id_curso (FK) | id_profesor (FK)</a:t>
            </a:r>
            <a:endParaRPr lang="en-US" sz="9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fecha (DATE NOT NULL)</a:t>
            </a:r>
            <a:endParaRPr lang="en-US" sz="9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estado ENUM('PRESENTE','AUSENTE','TARDE','EXCUSA')</a:t>
            </a:r>
            <a:endParaRPr lang="en-US" sz="9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observacion (VARCHAR 255)</a:t>
            </a:r>
            <a:endParaRPr lang="en-US" sz="9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UNIQUE (id_estudiante, fecha) -&gt; Evita duplicados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3886200" y="2331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: N  ➜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97280" y="36850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⬇  1 : N (Curso tiene Estudiantes)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86200" y="4892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: N  ➜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863840" y="1417320"/>
            <a:ext cx="3779215" cy="4800600"/>
          </a:xfrm>
          <a:prstGeom prst="roundRect">
            <a:avLst>
              <a:gd name="adj" fmla="val 3387"/>
            </a:avLst>
          </a:prstGeom>
          <a:solidFill>
            <a:srgbClr val="0F172A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92440" y="1627632"/>
            <a:ext cx="3322015" cy="384048"/>
          </a:xfrm>
          <a:prstGeom prst="roundRect">
            <a:avLst>
              <a:gd name="adj" fmla="val 23810"/>
            </a:avLst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8092440" y="1627632"/>
            <a:ext cx="33220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  PERSISTENCIA HÍBRIDA EN LA WEB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92440" y="2194560"/>
            <a:ext cx="3322015" cy="1170432"/>
          </a:xfrm>
          <a:prstGeom prst="roundRect">
            <a:avLst>
              <a:gd name="adj" fmla="val 781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2267712"/>
            <a:ext cx="3044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Firebase Realtime Database (Nube)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0" y="2523744"/>
            <a:ext cx="3044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Árbol JSON alojado en Google Cloud (asistencia_db). Mediante WebSockets (.on('value')), cualquier cambio realizado por un docente se replica en vivo en todas las pantallas abiertas sin recargar.</a:t>
            </a:r>
            <a:endParaRPr lang="en-US" sz="890" dirty="0"/>
          </a:p>
        </p:txBody>
      </p:sp>
      <p:sp>
        <p:nvSpPr>
          <p:cNvPr id="36" name="Shape 34"/>
          <p:cNvSpPr/>
          <p:nvPr/>
        </p:nvSpPr>
        <p:spPr>
          <a:xfrm>
            <a:off x="8092440" y="3493008"/>
            <a:ext cx="3322015" cy="1170432"/>
          </a:xfrm>
          <a:prstGeom prst="roundRect">
            <a:avLst>
              <a:gd name="adj" fmla="val 781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3566160"/>
            <a:ext cx="3044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Web Storage API (LocalStorage)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29600" y="3822192"/>
            <a:ext cx="3044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Almacena localmente las colecciones (profesores, cursos, estudiantes, asistencias, notas y sesión). Permite que la app funcione 100% offline y sirve como caché de respaldo inmediato.</a:t>
            </a:r>
            <a:endParaRPr lang="en-US" sz="890" dirty="0"/>
          </a:p>
        </p:txBody>
      </p:sp>
      <p:sp>
        <p:nvSpPr>
          <p:cNvPr id="39" name="Shape 37"/>
          <p:cNvSpPr/>
          <p:nvPr/>
        </p:nvSpPr>
        <p:spPr>
          <a:xfrm>
            <a:off x="8092440" y="4791456"/>
            <a:ext cx="3322015" cy="1170432"/>
          </a:xfrm>
          <a:prstGeom prst="roundRect">
            <a:avLst>
              <a:gd name="adj" fmla="val 781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0" y="4864608"/>
            <a:ext cx="3044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Prevención de Duplicados (Upsert)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229600" y="5120640"/>
            <a:ext cx="3044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Tanto en MySQL (ON DUPLICATE KEY UPDATE) como en JS, si un docente vuelve a guardar la asistencia del mismo curso y fecha, el sistema actualiza el registro existente en lugar de duplicarlo.</a:t>
            </a:r>
            <a:endParaRPr lang="en-US" sz="8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56032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 OPERATIVO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063240" y="20116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¿Cómo Funciona? Ciclo de Vida Completo de una Operación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48640" y="621792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Interacción coordinada entre Frontend, Backend y Base de Datos durante la jornada diaria del docente.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1052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EduAsistencia • Portal Docente de Control de Asistencia y Gestión Académica (Web SPA + Java Desktop)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0" y="6510528"/>
            <a:ext cx="2041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Diapositiva 7 de 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143000"/>
            <a:ext cx="2587752" cy="5166360"/>
          </a:xfrm>
          <a:prstGeom prst="roundRect">
            <a:avLst>
              <a:gd name="adj" fmla="val 4240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143000"/>
            <a:ext cx="2587752" cy="777240"/>
          </a:xfrm>
          <a:prstGeom prst="roundRect">
            <a:avLst>
              <a:gd name="adj" fmla="val 14118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207008"/>
            <a:ext cx="2313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ETAPA 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8368" y="1426464"/>
            <a:ext cx="23682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Autenticación y Control de Sesión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6656" y="2057400"/>
            <a:ext cx="2331720" cy="1261872"/>
          </a:xfrm>
          <a:prstGeom prst="roundRect">
            <a:avLst>
              <a:gd name="adj" fmla="val 5797"/>
            </a:avLst>
          </a:prstGeom>
          <a:solidFill>
            <a:srgbClr val="EFF6FF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" y="2130552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EN EL FRONTEND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8096" y="237744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docente ingresa usuario y clave (ej. profesor1 / 123456) en el formulario de Login.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54480" y="33192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⬇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" y="3520440"/>
            <a:ext cx="2331720" cy="1261872"/>
          </a:xfrm>
          <a:prstGeom prst="roundRect">
            <a:avLst>
              <a:gd name="adj" fmla="val 5797"/>
            </a:avLst>
          </a:prstGeom>
          <a:solidFill>
            <a:srgbClr val="F5F3FF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" y="3593592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EN EL BACKEND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68096" y="384048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PasswordUtil convierte la clave a hash SHA-256 (Java) o verifica credenciales en estadoLocal (Web).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54480" y="47823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⬇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" y="4983480"/>
            <a:ext cx="2331720" cy="1207008"/>
          </a:xfrm>
          <a:prstGeom prst="roundRect">
            <a:avLst>
              <a:gd name="adj" fmla="val 6061"/>
            </a:avLst>
          </a:prstGeom>
          <a:solidFill>
            <a:srgbClr val="ECFDF5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" y="5056632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🗄️ EN LA BASE DE DATOS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68096" y="53035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en tabla profesores / lectura de sesión. Retorna el objeto Profesor autenticado.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136392" y="3520440"/>
            <a:ext cx="246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➜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383280" y="1143000"/>
            <a:ext cx="2587752" cy="5166360"/>
          </a:xfrm>
          <a:prstGeom prst="roundRect">
            <a:avLst>
              <a:gd name="adj" fmla="val 4240"/>
            </a:avLst>
          </a:prstGeom>
          <a:solidFill>
            <a:srgbClr val="FFFFFF"/>
          </a:solidFill>
          <a:ln w="19050">
            <a:solidFill>
              <a:srgbClr val="DDD6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3280" y="1143000"/>
            <a:ext cx="2587752" cy="777240"/>
          </a:xfrm>
          <a:prstGeom prst="roundRect">
            <a:avLst>
              <a:gd name="adj" fmla="val 14118"/>
            </a:avLst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1207008"/>
            <a:ext cx="2313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ETAPA 2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93008" y="1426464"/>
            <a:ext cx="23682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Cursos y Matrícula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511296" y="2057400"/>
            <a:ext cx="2331720" cy="1261872"/>
          </a:xfrm>
          <a:prstGeom prst="roundRect">
            <a:avLst>
              <a:gd name="adj" fmla="val 5797"/>
            </a:avLst>
          </a:prstGeom>
          <a:solidFill>
            <a:srgbClr val="EFF6FF"/>
          </a:solidFill>
          <a:ln/>
        </p:spPr>
      </p:sp>
      <p:sp>
        <p:nvSpPr>
          <p:cNvPr id="31" name="Text 29"/>
          <p:cNvSpPr/>
          <p:nvPr/>
        </p:nvSpPr>
        <p:spPr>
          <a:xfrm>
            <a:off x="3602736" y="2130552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EN EL FRONTEND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02736" y="237744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docente crea un curso (ej. 10-A Mañana) y registra estudiantes con su documento de identidad.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389120" y="33192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⬇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11296" y="3520440"/>
            <a:ext cx="2331720" cy="1261872"/>
          </a:xfrm>
          <a:prstGeom prst="roundRect">
            <a:avLst>
              <a:gd name="adj" fmla="val 5797"/>
            </a:avLst>
          </a:prstGeom>
          <a:solidFill>
            <a:srgbClr val="F5F3FF"/>
          </a:solidFill>
          <a:ln/>
        </p:spPr>
      </p:sp>
      <p:sp>
        <p:nvSpPr>
          <p:cNvPr id="35" name="Text 33"/>
          <p:cNvSpPr/>
          <p:nvPr/>
        </p:nvSpPr>
        <p:spPr>
          <a:xfrm>
            <a:off x="3602736" y="3593592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EN EL BACKEND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02736" y="384048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CursoDAO y EstudianteDAO validan campos obligatorios y verifican que el documento no esté repetido.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389120" y="47823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⬇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511296" y="4983480"/>
            <a:ext cx="2331720" cy="1207008"/>
          </a:xfrm>
          <a:prstGeom prst="roundRect">
            <a:avLst>
              <a:gd name="adj" fmla="val 6061"/>
            </a:avLst>
          </a:prstGeom>
          <a:solidFill>
            <a:srgbClr val="ECFDF5"/>
          </a:solidFill>
          <a:ln/>
        </p:spPr>
      </p:sp>
      <p:sp>
        <p:nvSpPr>
          <p:cNvPr id="39" name="Text 37"/>
          <p:cNvSpPr/>
          <p:nvPr/>
        </p:nvSpPr>
        <p:spPr>
          <a:xfrm>
            <a:off x="3602736" y="5056632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🗄️ EN LA BASE DE DATOS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02736" y="53035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en tablas cursos y estudiantes. Si se retira un alumno, se aplica baja lógica (activo = 0).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71032" y="3520440"/>
            <a:ext cx="246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➜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217920" y="1143000"/>
            <a:ext cx="2587752" cy="5166360"/>
          </a:xfrm>
          <a:prstGeom prst="roundRect">
            <a:avLst>
              <a:gd name="adj" fmla="val 4240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17920" y="1143000"/>
            <a:ext cx="2587752" cy="777240"/>
          </a:xfrm>
          <a:prstGeom prst="roundRect">
            <a:avLst>
              <a:gd name="adj" fmla="val 14118"/>
            </a:avLst>
          </a:prstGeom>
          <a:solidFill>
            <a:srgbClr val="059669"/>
          </a:solidFill>
          <a:ln/>
        </p:spPr>
      </p:sp>
      <p:sp>
        <p:nvSpPr>
          <p:cNvPr id="44" name="Text 42"/>
          <p:cNvSpPr/>
          <p:nvPr/>
        </p:nvSpPr>
        <p:spPr>
          <a:xfrm>
            <a:off x="6355080" y="1207008"/>
            <a:ext cx="2313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ETAPA 3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27648" y="1426464"/>
            <a:ext cx="23682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Toma de Asistencia y Calificaciones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345936" y="2057400"/>
            <a:ext cx="2331720" cy="1261872"/>
          </a:xfrm>
          <a:prstGeom prst="roundRect">
            <a:avLst>
              <a:gd name="adj" fmla="val 5797"/>
            </a:avLst>
          </a:prstGeom>
          <a:solidFill>
            <a:srgbClr val="EFF6FF"/>
          </a:solidFill>
          <a:ln/>
        </p:spPr>
      </p:sp>
      <p:sp>
        <p:nvSpPr>
          <p:cNvPr id="47" name="Text 45"/>
          <p:cNvSpPr/>
          <p:nvPr/>
        </p:nvSpPr>
        <p:spPr>
          <a:xfrm>
            <a:off x="6437376" y="2130552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EN EL FRONTEND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37376" y="237744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 curso y fecha. Marca estados (Presente, Ausente, Tarde, Excusa) o usa 'Marcar Todos Presentes'.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223760" y="33192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⬇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45936" y="3520440"/>
            <a:ext cx="2331720" cy="1261872"/>
          </a:xfrm>
          <a:prstGeom prst="roundRect">
            <a:avLst>
              <a:gd name="adj" fmla="val 5797"/>
            </a:avLst>
          </a:prstGeom>
          <a:solidFill>
            <a:srgbClr val="F5F3FF"/>
          </a:solidFill>
          <a:ln/>
        </p:spPr>
      </p:sp>
      <p:sp>
        <p:nvSpPr>
          <p:cNvPr id="51" name="Text 49"/>
          <p:cNvSpPr/>
          <p:nvPr/>
        </p:nvSpPr>
        <p:spPr>
          <a:xfrm>
            <a:off x="6437376" y="3593592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EN EL BACKEND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37376" y="384048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Recalcula contadores KPI en vivo. AsistenciaDAO agrupa todos los registros en una transacción Batch.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23760" y="47823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⬇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45936" y="4983480"/>
            <a:ext cx="2331720" cy="1207008"/>
          </a:xfrm>
          <a:prstGeom prst="roundRect">
            <a:avLst>
              <a:gd name="adj" fmla="val 6061"/>
            </a:avLst>
          </a:prstGeom>
          <a:solidFill>
            <a:srgbClr val="ECFDF5"/>
          </a:solidFill>
          <a:ln/>
        </p:spPr>
      </p:sp>
      <p:sp>
        <p:nvSpPr>
          <p:cNvPr id="55" name="Text 53"/>
          <p:cNvSpPr/>
          <p:nvPr/>
        </p:nvSpPr>
        <p:spPr>
          <a:xfrm>
            <a:off x="6437376" y="5056632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🗄️ EN LA BASE DE DATOS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37376" y="53035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Ejecuta INSERT ... ON DUPLICATE KEY UPDATE en MySQL y sincroniza el nodo en Firebase / LocalStorage.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805672" y="3520440"/>
            <a:ext cx="246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➜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9052560" y="1143000"/>
            <a:ext cx="2587752" cy="5166360"/>
          </a:xfrm>
          <a:prstGeom prst="roundRect">
            <a:avLst>
              <a:gd name="adj" fmla="val 4240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052560" y="1143000"/>
            <a:ext cx="2587752" cy="777240"/>
          </a:xfrm>
          <a:prstGeom prst="roundRect">
            <a:avLst>
              <a:gd name="adj" fmla="val 14118"/>
            </a:avLst>
          </a:prstGeom>
          <a:solidFill>
            <a:srgbClr val="D97706"/>
          </a:solidFill>
          <a:ln/>
        </p:spPr>
      </p:sp>
      <p:sp>
        <p:nvSpPr>
          <p:cNvPr id="60" name="Text 58"/>
          <p:cNvSpPr/>
          <p:nvPr/>
        </p:nvSpPr>
        <p:spPr>
          <a:xfrm>
            <a:off x="9189720" y="1207008"/>
            <a:ext cx="2313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ETAPA 4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9162288" y="1426464"/>
            <a:ext cx="23682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Consulta, Sincronización y Exportación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9180576" y="2057400"/>
            <a:ext cx="2331720" cy="1261872"/>
          </a:xfrm>
          <a:prstGeom prst="roundRect">
            <a:avLst>
              <a:gd name="adj" fmla="val 5797"/>
            </a:avLst>
          </a:prstGeom>
          <a:solidFill>
            <a:srgbClr val="EFF6FF"/>
          </a:solidFill>
          <a:ln/>
        </p:spPr>
      </p:sp>
      <p:sp>
        <p:nvSpPr>
          <p:cNvPr id="63" name="Text 61"/>
          <p:cNvSpPr/>
          <p:nvPr/>
        </p:nvSpPr>
        <p:spPr>
          <a:xfrm>
            <a:off x="9272016" y="2130552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EN EL FRONTEND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9272016" y="237744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'Reportes y Consultas', el docente filtra por curso y rango de fechas (Desde / Hasta).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0058400" y="33192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⬇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9180576" y="3520440"/>
            <a:ext cx="2331720" cy="1261872"/>
          </a:xfrm>
          <a:prstGeom prst="roundRect">
            <a:avLst>
              <a:gd name="adj" fmla="val 5797"/>
            </a:avLst>
          </a:prstGeom>
          <a:solidFill>
            <a:srgbClr val="F5F3FF"/>
          </a:solidFill>
          <a:ln/>
        </p:spPr>
      </p:sp>
      <p:sp>
        <p:nvSpPr>
          <p:cNvPr id="67" name="Text 65"/>
          <p:cNvSpPr/>
          <p:nvPr/>
        </p:nvSpPr>
        <p:spPr>
          <a:xfrm>
            <a:off x="9272016" y="3593592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EN EL BACKEND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272016" y="384048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 el % global de asistencia del grupo y formatea la matriz de datos con codificación UTF-8.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0058400" y="47823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⬇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9180576" y="4983480"/>
            <a:ext cx="2331720" cy="1207008"/>
          </a:xfrm>
          <a:prstGeom prst="roundRect">
            <a:avLst>
              <a:gd name="adj" fmla="val 6061"/>
            </a:avLst>
          </a:prstGeom>
          <a:solidFill>
            <a:srgbClr val="ECFDF5"/>
          </a:solidFill>
          <a:ln/>
        </p:spPr>
      </p:sp>
      <p:sp>
        <p:nvSpPr>
          <p:cNvPr id="71" name="Text 69"/>
          <p:cNvSpPr/>
          <p:nvPr/>
        </p:nvSpPr>
        <p:spPr>
          <a:xfrm>
            <a:off x="9272016" y="5056632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🗄️ EN LA BASE DE DATOS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9272016" y="53035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 JOIN entre asistencias y estudiantes ordenada por fecha, descargando el archivo Excel (.CSV).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Institución Educativa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EduAsistencia - Presentación Integral del Proyecto</dc:title>
  <dc:subject>Propósito, Misión, Público Objetivo y Arquitectura del Sistema (Frontend, Backend, BD)</dc:subject>
  <dc:creator>EduAsistencia - Portal Docente</dc:creator>
  <cp:lastModifiedBy>EduAsistencia - Portal Docente</cp:lastModifiedBy>
  <cp:revision>1</cp:revision>
  <dcterms:created xsi:type="dcterms:W3CDTF">2026-10-27T12:11:08Z</dcterms:created>
  <dcterms:modified xsi:type="dcterms:W3CDTF">2026-10-27T12:11:08Z</dcterms:modified>
</cp:coreProperties>
</file>